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Inter"/>
      <p:regular r:id="rId19"/>
      <p:bold r:id="rId20"/>
      <p:italic r:id="rId21"/>
      <p:boldItalic r:id="rId22"/>
    </p:embeddedFont>
    <p:embeddedFont>
      <p:font typeface="Urbanist"/>
      <p:regular r:id="rId23"/>
      <p:bold r:id="rId24"/>
      <p:italic r:id="rId25"/>
      <p:boldItalic r:id="rId26"/>
    </p:embeddedFont>
    <p:embeddedFont>
      <p:font typeface="Public Sans"/>
      <p:regular r:id="rId27"/>
      <p:bold r:id="rId28"/>
      <p:italic r:id="rId29"/>
      <p:boldItalic r:id="rId30"/>
    </p:embeddedFont>
    <p:embeddedFont>
      <p:font typeface="Space Grotesk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52F86B-60BE-472D-9039-D3E552850FE3}">
  <a:tblStyle styleId="{B852F86B-60BE-472D-9039-D3E552850FE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28" Type="http://schemas.openxmlformats.org/officeDocument/2006/relationships/font" Target="fonts/PublicSans-bold.fntdata"/><Relationship Id="rId27" Type="http://schemas.openxmlformats.org/officeDocument/2006/relationships/font" Target="fonts/PublicSa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ublic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paceGrotesk-regular.fntdata"/><Relationship Id="rId30" Type="http://schemas.openxmlformats.org/officeDocument/2006/relationships/font" Target="fonts/Public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SpaceGrotesk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10" Type="http://schemas.openxmlformats.org/officeDocument/2006/relationships/image" Target="../media/image6.png"/><Relationship Id="rId9" Type="http://schemas.openxmlformats.org/officeDocument/2006/relationships/image" Target="../media/image25.png"/><Relationship Id="rId5" Type="http://schemas.openxmlformats.org/officeDocument/2006/relationships/image" Target="../media/image20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14.png"/><Relationship Id="rId6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Relationship Id="rId7" Type="http://schemas.openxmlformats.org/officeDocument/2006/relationships/image" Target="../media/image9.png"/><Relationship Id="rId8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38662"/>
            <a:ext cx="11049000" cy="17621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557212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A1A1A"/>
                </a:solidFill>
                <a:latin typeface="Urbanist"/>
                <a:ea typeface="Urbanist"/>
                <a:cs typeface="Urbanist"/>
                <a:sym typeface="Urbanist"/>
              </a:rPr>
              <a:t>HSE DATABASE MANAGEMENT SYSTEM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424112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A1A1A"/>
                </a:solidFill>
                <a:latin typeface="Urbanist"/>
                <a:ea typeface="Urbanist"/>
                <a:cs typeface="Urbanist"/>
                <a:sym typeface="Urbanist"/>
              </a:rPr>
              <a:t>Transitioning to </a:t>
            </a:r>
            <a:r>
              <a:rPr b="1" i="0" lang="en-US" sz="6000" u="none" cap="none" strike="noStrike">
                <a:solidFill>
                  <a:srgbClr val="FF6B00"/>
                </a:solidFill>
                <a:latin typeface="Urbanist"/>
                <a:ea typeface="Urbanist"/>
                <a:cs typeface="Urbanist"/>
                <a:sym typeface="Urbanist"/>
              </a:rPr>
              <a:t>Digital Safety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681412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Empowering the Oil and Gas Sector in the Albertine Graben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5014912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Presented by: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Asiimwe Gilbert (2025/BCS/050/PS)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5443537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Institution: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Mbarara University of Science and Technology (MUST)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5872162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Faculty: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Computing and Informatics | Group 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762000" y="571500"/>
            <a:ext cx="5000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1A1A"/>
                </a:solidFill>
                <a:latin typeface="Urbanist"/>
                <a:ea typeface="Urbanist"/>
                <a:cs typeface="Urbanist"/>
                <a:sym typeface="Urbanist"/>
              </a:rPr>
              <a:t>EXECUTIVE SUMMARY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1609725"/>
            <a:ext cx="4953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This project transitions HSE data management from fragmented, paper-based processes into a centralized </a:t>
            </a: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MySQL Relational Architecture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2724150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Strategic Focus: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04875" y="3305175"/>
            <a:ext cx="4619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Tilenga &amp; Kingfisher Project sites.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04875" y="3752850"/>
            <a:ext cx="4619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NEMA &amp; Petroleum Authority (PAU) Compliance.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04875" y="4200525"/>
            <a:ext cx="4619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Mitigating high-risk operational hazards.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051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528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005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000" y="-14287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38387"/>
            <a:ext cx="3492549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38387"/>
            <a:ext cx="3492549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38387"/>
            <a:ext cx="3492549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1A1A"/>
                </a:solidFill>
                <a:latin typeface="Urbanist"/>
                <a:ea typeface="Urbanist"/>
                <a:cs typeface="Urbanist"/>
                <a:sym typeface="Urbanist"/>
              </a:rPr>
              <a:t>APPLICATION DOMAIN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7193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952500" y="3290887"/>
            <a:ext cx="2867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A1A1A"/>
                </a:solidFill>
                <a:latin typeface="Urbanist"/>
                <a:ea typeface="Urbanist"/>
                <a:cs typeface="Urbanist"/>
                <a:sym typeface="Urbanist"/>
              </a:rPr>
              <a:t>Incident M</a:t>
            </a:r>
            <a:r>
              <a:rPr b="1" lang="en-US" sz="1950">
                <a:solidFill>
                  <a:srgbClr val="1A1A1A"/>
                </a:solidFill>
                <a:latin typeface="Urbanist"/>
                <a:ea typeface="Urbanist"/>
                <a:cs typeface="Urbanist"/>
                <a:sym typeface="Urbanist"/>
              </a:rPr>
              <a:t>ana</a:t>
            </a:r>
            <a:r>
              <a:rPr b="1" i="0" lang="en-US" sz="1950" u="none" cap="none" strike="noStrike">
                <a:solidFill>
                  <a:srgbClr val="1A1A1A"/>
                </a:solidFill>
                <a:latin typeface="Urbanist"/>
                <a:ea typeface="Urbanist"/>
                <a:cs typeface="Urbanist"/>
                <a:sym typeface="Urbanist"/>
              </a:rPr>
              <a:t>gement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52500" y="3767137"/>
            <a:ext cx="273054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Real-time logging of accidents, near-misses, and hazardous observations across remote rig sites.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0799" y="2719387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4730799" y="3290887"/>
            <a:ext cx="286707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A1A1A"/>
                </a:solidFill>
                <a:latin typeface="Urbanist"/>
                <a:ea typeface="Urbanist"/>
                <a:cs typeface="Urbanist"/>
                <a:sym typeface="Urbanist"/>
              </a:rPr>
              <a:t>Audit Tracking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730799" y="3767137"/>
            <a:ext cx="273054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Scheduling and recording environmental inspections at Buliisa and Hoima operational camps.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09099" y="2719387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8509099" y="3290887"/>
            <a:ext cx="286707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A1A1A"/>
                </a:solidFill>
                <a:latin typeface="Urbanist"/>
                <a:ea typeface="Urbanist"/>
                <a:cs typeface="Urbanist"/>
                <a:sym typeface="Urbanist"/>
              </a:rPr>
              <a:t>Compliance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509099" y="3767137"/>
            <a:ext cx="273054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Tracking BOSIET and First Aid certifications to ensure 100% field readiness of personnel.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30338" y="5641627"/>
            <a:ext cx="10668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64748B"/>
                </a:solidFill>
                <a:latin typeface="Public Sans"/>
                <a:ea typeface="Public Sans"/>
                <a:cs typeface="Public Sans"/>
                <a:sym typeface="Public Sans"/>
              </a:rPr>
              <a:t>User Groups:</a:t>
            </a:r>
            <a:r>
              <a:rPr b="0" i="0" lang="en-US" sz="1550" u="none" cap="none" strike="noStrike">
                <a:solidFill>
                  <a:srgbClr val="64748B"/>
                </a:solidFill>
                <a:latin typeface="Public Sans"/>
                <a:ea typeface="Public Sans"/>
                <a:cs typeface="Public Sans"/>
                <a:sym typeface="Public Sans"/>
              </a:rPr>
              <a:t> HSE Managers, Field Officers, HR Coordinators, and Auditors.</a:t>
            </a:r>
            <a:endParaRPr sz="1600"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7700" y="5641624"/>
            <a:ext cx="381000" cy="3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62225"/>
            <a:ext cx="5238750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562225"/>
            <a:ext cx="5238750" cy="26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1A1A"/>
                </a:solidFill>
                <a:latin typeface="Urbanist"/>
                <a:ea typeface="Urbanist"/>
                <a:cs typeface="Urbanist"/>
                <a:sym typeface="Urbanist"/>
              </a:rPr>
              <a:t>STRATEGIC BENEFITS ANALYSIS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952500" y="2943225"/>
            <a:ext cx="47005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A1A1A"/>
                </a:solidFill>
                <a:latin typeface="Urbanist"/>
                <a:ea typeface="Urbanist"/>
                <a:cs typeface="Urbanist"/>
                <a:sym typeface="Urbanist"/>
              </a:rPr>
              <a:t>Tangible Gains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762750" y="2943225"/>
            <a:ext cx="47005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A1A1A"/>
                </a:solidFill>
                <a:latin typeface="Urbanist"/>
                <a:ea typeface="Urbanist"/>
                <a:cs typeface="Urbanist"/>
                <a:sym typeface="Urbanist"/>
              </a:rPr>
              <a:t>Intangible Value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285875" y="3400425"/>
            <a:ext cx="4143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Fines reduction through PAU compliance.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285875" y="3848100"/>
            <a:ext cx="4143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Lower insurance premiums via risk data.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285875" y="4295775"/>
            <a:ext cx="4143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80% reduction in monthly reporting time.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7096125" y="3400425"/>
            <a:ext cx="4143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Enhanced corporate reputation in Uganda.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096125" y="3848100"/>
            <a:ext cx="4143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Shift to a proactive "Safety First" culture.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7096125" y="4295775"/>
            <a:ext cx="4143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Increased employee trust and morale.</a:t>
            </a:r>
            <a:endParaRPr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4004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8481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2957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0" y="34004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0" y="38481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0" y="4295775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1A1A"/>
                </a:solidFill>
                <a:latin typeface="Urbanist"/>
                <a:ea typeface="Urbanist"/>
                <a:cs typeface="Urbanist"/>
                <a:sym typeface="Urbanist"/>
              </a:rPr>
              <a:t>RISK ASSESSMENT &amp; MITIGATION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1285875" y="3043237"/>
            <a:ext cx="10334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Technical Connectivity: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Remote sites (Buliisa) face intermittent internet. Mitigation: Planned offline-sync capabilities.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1285875" y="3490912"/>
            <a:ext cx="10334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Organizational Resistance: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Staff accustomed to legacy paper reporting. Mitigation: Localized Swahili/Luganda tooltips.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285875" y="3938587"/>
            <a:ext cx="10334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Data Integrity: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"Garbage in, Garbage out" principle. Mitigation: Strict input validation and mandatory fields.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1285875" y="4386262"/>
            <a:ext cx="10334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Security Vulnerability: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Sensitive medical/incident data. Mitigation: Role-Based Access Control (RBAC).</a:t>
            </a:r>
            <a:endParaRPr/>
          </a:p>
        </p:txBody>
      </p:sp>
      <p:pic>
        <p:nvPicPr>
          <p:cNvPr descr="image.png" id="158" name="Google Shape;15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0432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4909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93858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4386262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5875" y="1957387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1A1A"/>
                </a:solidFill>
                <a:latin typeface="Urbanist"/>
                <a:ea typeface="Urbanist"/>
                <a:cs typeface="Urbanist"/>
                <a:sym typeface="Urbanist"/>
              </a:rPr>
              <a:t>LOGICAL SYSTEM DESIGN</a:t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9" name="Google Shape;16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85875" y="1957387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6381750" y="252412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Relational Entities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381750" y="2914650"/>
            <a:ext cx="5238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The system anchors all activities around the </a:t>
            </a: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Site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entity, branching into: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715125" y="3600450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Site (1:M) Employees: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Operational tracking.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715125" y="4048125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Site (1:M) Incidents: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Safety history.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6715125" y="4495800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Employee (M:N) Training: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Resolved via </a:t>
            </a:r>
            <a:r>
              <a:rPr b="0" i="1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Emp_Training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junction table.</a:t>
            </a:r>
            <a:endParaRPr/>
          </a:p>
        </p:txBody>
      </p:sp>
      <p:pic>
        <p:nvPicPr>
          <p:cNvPr descr="image.png" id="175" name="Google Shape;17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6004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0481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49580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1A1A"/>
                </a:solidFill>
                <a:latin typeface="Urbanist"/>
                <a:ea typeface="Urbanist"/>
                <a:cs typeface="Urbanist"/>
                <a:sym typeface="Urbanist"/>
              </a:rPr>
              <a:t>PHYSICAL SCHEMA (MYSQL)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4" name="Google Shape;184;p19"/>
          <p:cNvGraphicFramePr/>
          <p:nvPr/>
        </p:nvGraphicFramePr>
        <p:xfrm>
          <a:off x="571500" y="2743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{B852F86B-60BE-472D-9039-D3E552850FE3}</a:tableStyleId>
              </a:tblPr>
              <a:tblGrid>
                <a:gridCol w="1634575"/>
                <a:gridCol w="1955750"/>
                <a:gridCol w="3867750"/>
                <a:gridCol w="3590925"/>
              </a:tblGrid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Entity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Primary Key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Attributes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Constraints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site_id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site_name, location, risk_level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ENUM('Low', 'Med', 'High')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employees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emp_id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f_name, l_name, role, site_id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FK -&gt; sites(site_id)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incidents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incident_id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date, category, severity, site_id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FK -&gt; sites, FK -&gt; employees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trainings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course_id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course_name, validity_months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 NULL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85" name="Google Shape;185;p19"/>
          <p:cNvSpPr/>
          <p:nvPr/>
        </p:nvSpPr>
        <p:spPr>
          <a:xfrm>
            <a:off x="571500" y="3700462"/>
            <a:ext cx="16345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2206079" y="3700462"/>
            <a:ext cx="1955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4161829" y="3700462"/>
            <a:ext cx="38677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8029575" y="3700462"/>
            <a:ext cx="35909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571500" y="4186237"/>
            <a:ext cx="16345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2206079" y="4186237"/>
            <a:ext cx="1955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4161829" y="4186237"/>
            <a:ext cx="38677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8029575" y="4186237"/>
            <a:ext cx="35909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571500" y="4672012"/>
            <a:ext cx="16345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2206079" y="4672012"/>
            <a:ext cx="1955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4161829" y="4672012"/>
            <a:ext cx="38677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8029575" y="4672012"/>
            <a:ext cx="35909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571500" y="5157787"/>
            <a:ext cx="16345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2206079" y="5157787"/>
            <a:ext cx="1955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4161829" y="5157787"/>
            <a:ext cx="38677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8029575" y="5157787"/>
            <a:ext cx="35909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5619750" y="2562225"/>
            <a:ext cx="9525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3955732" y="2886075"/>
            <a:ext cx="428053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Implementation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4057650" y="3800475"/>
            <a:ext cx="407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MySQL DDL &amp; Data Population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04975"/>
            <a:ext cx="3492549" cy="431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704975"/>
            <a:ext cx="3492549" cy="431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704975"/>
            <a:ext cx="3492549" cy="431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085975"/>
            <a:ext cx="273054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1A1A"/>
                </a:solidFill>
                <a:latin typeface="Urbanist"/>
                <a:ea typeface="Urbanist"/>
                <a:cs typeface="Urbanist"/>
                <a:sym typeface="Urbanist"/>
              </a:rPr>
              <a:t>UI &amp; DIALOGUE STRUCTURE</a:t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952500" y="4181475"/>
            <a:ext cx="286707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A1A1A"/>
                </a:solidFill>
                <a:latin typeface="Urbanist"/>
                <a:ea typeface="Urbanist"/>
                <a:cs typeface="Urbanist"/>
                <a:sym typeface="Urbanist"/>
              </a:rPr>
              <a:t>Dashboard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952500" y="4657725"/>
            <a:ext cx="273054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KPI Widgets: Total Incidents, Pending Audits, and Expiring Certs.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4730799" y="2085975"/>
            <a:ext cx="286707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A1A1A"/>
                </a:solidFill>
                <a:latin typeface="Urbanist"/>
                <a:ea typeface="Urbanist"/>
                <a:cs typeface="Urbanist"/>
                <a:sym typeface="Urbanist"/>
              </a:rPr>
              <a:t>Incident Flow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4730799" y="2562225"/>
            <a:ext cx="27305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Site Dropdown → Category (LTI, Spill) → Severity → Submit.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8509099" y="2085975"/>
            <a:ext cx="286707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A1A1A"/>
                </a:solidFill>
                <a:latin typeface="Urbanist"/>
                <a:ea typeface="Urbanist"/>
                <a:cs typeface="Urbanist"/>
                <a:sym typeface="Urbanist"/>
              </a:rPr>
              <a:t>Reporting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8509099" y="2562225"/>
            <a:ext cx="27305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Automated SQL aggregation for weekly PAU submissions.</a:t>
            </a:r>
            <a:endParaRPr/>
          </a:p>
        </p:txBody>
      </p:sp>
      <p:pic>
        <p:nvPicPr>
          <p:cNvPr descr="image.png" id="225" name="Google Shape;225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2500" y="2085975"/>
            <a:ext cx="2730549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38275"/>
            <a:ext cx="11049000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1A1A"/>
                </a:solidFill>
                <a:latin typeface="Urbanist"/>
                <a:ea typeface="Urbanist"/>
                <a:cs typeface="Urbanist"/>
                <a:sym typeface="Urbanist"/>
              </a:rPr>
              <a:t>INCIDENT FREQUENCY BY SITE</a:t>
            </a:r>
            <a:endParaRPr/>
          </a:p>
        </p:txBody>
      </p:sp>
      <p:sp>
        <p:nvSpPr>
          <p:cNvPr id="232" name="Google Shape;232;p22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571500" y="5838825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*Simulated Q4 2025 Data: Identifying high-risk drilling zones for immediate intervention.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38275"/>
            <a:ext cx="11049000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1A1A"/>
                </a:solidFill>
                <a:latin typeface="Urbanist"/>
                <a:ea typeface="Urbanist"/>
                <a:cs typeface="Urbanist"/>
                <a:sym typeface="Urbanist"/>
              </a:rPr>
              <a:t>TRAINING COMPLIANCE READINESS</a:t>
            </a:r>
            <a:endParaRPr/>
          </a:p>
        </p:txBody>
      </p:sp>
      <p:sp>
        <p:nvSpPr>
          <p:cNvPr id="241" name="Google Shape;241;p23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 txBox="1"/>
          <p:nvPr/>
        </p:nvSpPr>
        <p:spPr>
          <a:xfrm>
            <a:off x="714375" y="5143500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6B00"/>
                </a:solidFill>
                <a:latin typeface="Urbanist"/>
                <a:ea typeface="Urbanist"/>
                <a:cs typeface="Urbanist"/>
                <a:sym typeface="Urbanist"/>
              </a:rPr>
              <a:t>92%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714375" y="5676900"/>
            <a:ext cx="5238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Current Compliance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6238875" y="5143500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4D40"/>
                </a:solidFill>
                <a:latin typeface="Urbanist"/>
                <a:ea typeface="Urbanist"/>
                <a:cs typeface="Urbanist"/>
                <a:sym typeface="Urbanist"/>
              </a:rPr>
              <a:t>30 Days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6238875" y="5676900"/>
            <a:ext cx="5238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Avg. Renewal Window</a:t>
            </a:r>
            <a:endParaRPr/>
          </a:p>
        </p:txBody>
      </p:sp>
      <p:pic>
        <p:nvPicPr>
          <p:cNvPr descr="image.png" id="246" name="Google Shape;24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1204912"/>
            <a:ext cx="106680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495300" y="2252662"/>
            <a:ext cx="1120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Conclusion &amp; Future Scope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2286000" y="3066949"/>
            <a:ext cx="762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The HSE DBMS provides a functional repository for oil sector data. Future expansion includes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Offline-First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 mobile sync and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AI Predictive Analytics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 for hazard forecasting.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762000" y="4529137"/>
            <a:ext cx="10668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ublic Sans"/>
                <a:ea typeface="Public Sans"/>
                <a:cs typeface="Public Sans"/>
                <a:sym typeface="Public Sans"/>
              </a:rPr>
              <a:t>Thank You | Asiimwe Gilbert | MUST 2026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"/>
          <p:cNvSpPr txBox="1"/>
          <p:nvPr/>
        </p:nvSpPr>
        <p:spPr>
          <a:xfrm>
            <a:off x="295275" y="1666875"/>
            <a:ext cx="1160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1A1A1A"/>
                </a:solidFill>
                <a:latin typeface="Urbanist"/>
                <a:ea typeface="Urbanist"/>
                <a:cs typeface="Urbanist"/>
                <a:sym typeface="Urbanist"/>
              </a:rPr>
              <a:t>END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571500" y="2905125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Thank you for your time.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4010025" y="3724275"/>
            <a:ext cx="438054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Bibliography</a:t>
            </a:r>
            <a:endParaRPr/>
          </a:p>
        </p:txBody>
      </p:sp>
      <p:sp>
        <p:nvSpPr>
          <p:cNvPr id="258" name="Google Shape;258;p24"/>
          <p:cNvSpPr/>
          <p:nvPr/>
        </p:nvSpPr>
        <p:spPr>
          <a:xfrm>
            <a:off x="4010025" y="4048125"/>
            <a:ext cx="41719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 txBox="1"/>
          <p:nvPr/>
        </p:nvSpPr>
        <p:spPr>
          <a:xfrm>
            <a:off x="4010025" y="4191000"/>
            <a:ext cx="4172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Connolly &amp; Begg (2014). Database Systems: A Practical Approach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4010025" y="4524375"/>
            <a:ext cx="41719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PAU (2023). Health, Safety and Environment Regulations.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4010025" y="4857750"/>
            <a:ext cx="41719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MySQL 8.0 Reference Manual. dev.mysql.com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